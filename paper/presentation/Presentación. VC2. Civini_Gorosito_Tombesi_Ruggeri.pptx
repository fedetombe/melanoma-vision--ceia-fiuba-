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repositorio FedeTombe/Melanoma-Vision--CEIA-FIUBA-, notebooks/VpCII_TP_Final_C.ipynb (código y salidas de la corrida), README.md y paper/VPCII_TpFinal.tex. Comparación realizada con la versión disponible el 11 de octubre de 2026. Las cifras se redondean como en el informe. VN: verdadero negativo; FP: falso positivo; FN: falso negativo; VP: verdadero positivo. La captura de la diapositiva 6 es ilustrativa del entorno; no sustituye el video de demostración.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06FB77E-8BAA-4440-9BD6-4C1E4ACFE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2CDC2A1-570C-4A35-B568-5F3E180F9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73D2367-BCE4-4757-95A1-43B17A8E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E8816D-B061-4902-9E19-87CC1F94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F4F869E-4492-4488-9221-E482668F4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8AC919-5699-41EC-93B7-B384A09CE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BD1F159-5726-41C7-B7A3-92FD02665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9E16923-E473-45F7-B1BB-B992F85C099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1C1723A-8248-4D5E-AAC8-9F3BE1E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FDCA7E3-AB2D-4921-928A-5EB359000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E8A89CAF-86C6-4185-A2DF-BC11395D299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8572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38C6C0"/>
                </a:solidFill>
              </a:defRPr>
            </a:defPPr>
          </a:lstStyle>
          <a:p>
            <a:pPr>
              <a:defRPr sz="1650" b="1">
                <a:solidFill>
                  <a:srgbClr val="38C6C0"/>
                </a:solidFill>
              </a:defRPr>
            </a:pPr>
            <a:r>
              <a:rPr sz="1650" b="1">
                <a:solidFill>
                  <a:srgbClr val="38C6C0"/>
                </a:solidFill>
              </a:rPr>
              <a:t>CEIA - FIUBA</a:t>
            </a:r>
          </a:p>
          <a:p>
            <a:pPr>
              <a:defRPr sz="1650" b="1">
                <a:solidFill>
                  <a:srgbClr val="38C6C0"/>
                </a:solidFill>
              </a:defRPr>
            </a:pPr>
            <a:r>
              <a:rPr sz="1650" b="1">
                <a:solidFill>
                  <a:srgbClr val="38C6C0"/>
                </a:solidFill>
              </a:rPr>
              <a:t>Visión por Computadora 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134F58F-63F0-4A57-8801-671776A19E7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47750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975" b="1">
                <a:solidFill>
                  <a:srgbClr val="F4F7FA"/>
                </a:solidFill>
              </a:defRPr>
            </a:defPPr>
          </a:lstStyle>
          <a:p>
            <a:pPr>
              <a:defRPr sz="3975" b="1">
                <a:solidFill>
                  <a:srgbClr val="F4F7FA"/>
                </a:solidFill>
              </a:defRPr>
            </a:pPr>
            <a:r>
              <a:rPr sz="3975" b="1">
                <a:solidFill>
                  <a:srgbClr val="F4F7FA"/>
                </a:solidFill>
              </a:rPr>
              <a:t>Melanoma Vision: clasificación y segmentación de lesiones cutáneas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AA72B69-7FBD-4D00-989F-506CA09F139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0001250" cy="1000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CBD7E2"/>
                </a:solidFill>
              </a:defRPr>
            </a:defPPr>
          </a:lstStyle>
          <a:p>
            <a:pPr>
              <a:defRPr sz="2100" b="0">
                <a:solidFill>
                  <a:srgbClr val="CBD7E2"/>
                </a:solidFill>
              </a:defRPr>
            </a:pPr>
            <a:r>
              <a:rPr sz="2100" b="0">
                <a:solidFill>
                  <a:srgbClr val="CBD7E2"/>
                </a:solidFill>
              </a:rPr>
              <a:t>Prototipo académico con modelos preentrenados y auditoría de similitud entre particiones. Sin validación clínica.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E242B1-2014-4711-82DD-EE42B00745E6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PROYECTO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26BFF7E-F147-47EA-83BC-E2E3E091853F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50482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F4F7FA"/>
                </a:solidFill>
              </a:defRPr>
            </a:defPPr>
          </a:lstStyle>
          <a:p>
            <a:pPr>
              <a:defRPr sz="2175" b="0">
                <a:solidFill>
                  <a:srgbClr val="F4F7FA"/>
                </a:solidFill>
              </a:defRPr>
            </a:pPr>
            <a:r>
              <a:rPr sz="2175" b="0">
                <a:solidFill>
                  <a:srgbClr val="F4F7FA"/>
                </a:solidFill>
              </a:rPr>
              <a:t>Clasificación y segmentación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A45185D-132E-4923-8481-C11985529715}"/>
              </a:ext>
            </a:extLst>
          </p:cNvPr>
          <p:cNvSpPr>
            <a:spLocks noGrp="1"/>
          </p:cNvSpPr>
          <p:nvPr/>
        </p:nvSpPr>
        <p:spPr>
          <a:xfrm>
            <a:off x="6477000" y="514350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MODELOS EVALUADOS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E175449-9E3A-4385-BBFC-BD02BBAB4796}"/>
              </a:ext>
            </a:extLst>
          </p:cNvPr>
          <p:cNvSpPr>
            <a:spLocks noGrp="1"/>
          </p:cNvSpPr>
          <p:nvPr/>
        </p:nvSpPr>
        <p:spPr>
          <a:xfrm>
            <a:off x="6477000" y="5524500"/>
            <a:ext cx="50482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F4F7FA"/>
                </a:solidFill>
              </a:defRPr>
            </a:defPPr>
          </a:lstStyle>
          <a:p>
            <a:pPr>
              <a:defRPr sz="1950" b="0">
                <a:solidFill>
                  <a:srgbClr val="F4F7FA"/>
                </a:solidFill>
              </a:defRPr>
            </a:pPr>
            <a:r>
              <a:rPr sz="1950" b="0">
                <a:solidFill>
                  <a:srgbClr val="F4F7FA"/>
                </a:solidFill>
              </a:rPr>
              <a:t>EfficientNet-B0 / ResNet-18</a:t>
            </a:r>
          </a:p>
          <a:p>
            <a:pPr>
              <a:defRPr sz="1950" b="0">
                <a:solidFill>
                  <a:srgbClr val="F4F7FA"/>
                </a:solidFill>
              </a:defRPr>
            </a:pPr>
            <a:r>
              <a:rPr sz="1950" b="0">
                <a:solidFill>
                  <a:srgbClr val="F4F7FA"/>
                </a:solidFill>
              </a:rPr>
              <a:t>U-Net con encoder ResNet-18</a:t>
            </a:r>
          </a:p>
        </p:txBody>
      </p:sp>
    </p:spTree>
    <p:extLst>
      <p:ext uri="{BB962C8B-B14F-4D97-AF65-F5344CB8AC3E}">
        <p14:creationId xmlns:p14="http://schemas.microsoft.com/office/powerpoint/2010/main" val="74904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7DA0844-95CE-4887-808B-63F1D4E05BF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CONTEXTO MÉDICO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5616B5F-EFBA-49B5-A109-5B87F62FD594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Desafíos en la detección precoz del melanoma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CCE2819-AEFD-4A88-AFFC-0E70C7252593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02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59A5D0-2EEB-4E1A-853B-DC21F87F3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6768" y="2300080"/>
            <a:ext cx="2156242" cy="7143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C216175B-EE4A-460F-BD2A-CC15C9E0896B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38C6C0"/>
                </a:solidFill>
              </a:defRPr>
            </a:defPPr>
          </a:lstStyle>
          <a:p>
            <a:pPr>
              <a:defRPr sz="2325" b="1">
                <a:solidFill>
                  <a:srgbClr val="38C6C0"/>
                </a:solidFill>
              </a:defRPr>
            </a:pPr>
            <a:r>
              <a:rPr sz="2325" b="1">
                <a:solidFill>
                  <a:srgbClr val="38C6C0"/>
                </a:solidFill>
              </a:rPr>
              <a:t>Alta agresividad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C58A9F-4BD7-4712-98E2-E201EA4354AA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3238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F4F7FA"/>
                </a:solidFill>
              </a:defRPr>
            </a:defPPr>
          </a:lstStyle>
          <a:p>
            <a:pPr>
              <a:defRPr sz="2100" b="0">
                <a:solidFill>
                  <a:srgbClr val="F4F7FA"/>
                </a:solidFill>
              </a:defRPr>
            </a:pPr>
            <a:r>
              <a:rPr sz="2100" b="0">
                <a:solidFill>
                  <a:srgbClr val="F4F7FA"/>
                </a:solidFill>
              </a:rPr>
              <a:t>Mayor tasa de mortalidad en cáncer de piel.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087CDB5-645D-4E0E-90F0-15D2F2C88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0589" y="2542968"/>
            <a:ext cx="228600" cy="2286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6229CA5-B564-40F9-9019-3BB5F5A606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81499" y="2293290"/>
            <a:ext cx="2156241" cy="69979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1C24ACC3-04ED-4965-9285-A1430B15E361}"/>
              </a:ext>
            </a:extLst>
          </p:cNvPr>
          <p:cNvSpPr>
            <a:spLocks noGrp="1"/>
          </p:cNvSpPr>
          <p:nvPr/>
        </p:nvSpPr>
        <p:spPr>
          <a:xfrm>
            <a:off x="4381500" y="333375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38C6C0"/>
                </a:solidFill>
              </a:defRPr>
            </a:defPPr>
          </a:lstStyle>
          <a:p>
            <a:pPr>
              <a:defRPr sz="2325" b="1">
                <a:solidFill>
                  <a:srgbClr val="38C6C0"/>
                </a:solidFill>
              </a:defRPr>
            </a:pPr>
            <a:r>
              <a:rPr sz="2325" b="1">
                <a:solidFill>
                  <a:srgbClr val="38C6C0"/>
                </a:solidFill>
              </a:rPr>
              <a:t>Diagnóstico precoz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383878-A166-4166-9EC6-D791CE823C88}"/>
              </a:ext>
            </a:extLst>
          </p:cNvPr>
          <p:cNvSpPr>
            <a:spLocks noGrp="1"/>
          </p:cNvSpPr>
          <p:nvPr/>
        </p:nvSpPr>
        <p:spPr>
          <a:xfrm>
            <a:off x="4381500" y="4095750"/>
            <a:ext cx="3238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F4F7FA"/>
                </a:solidFill>
              </a:defRPr>
            </a:defPPr>
          </a:lstStyle>
          <a:p>
            <a:pPr>
              <a:defRPr sz="2100" b="0">
                <a:solidFill>
                  <a:srgbClr val="F4F7FA"/>
                </a:solidFill>
              </a:defRPr>
            </a:pPr>
            <a:r>
              <a:rPr sz="2100" b="0">
                <a:solidFill>
                  <a:srgbClr val="F4F7FA"/>
                </a:solidFill>
              </a:rPr>
              <a:t>Factor determinante para la supervivencia del paciente.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D53D07C-A826-4865-9B95-E478CB773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324159" y="2500519"/>
            <a:ext cx="228600" cy="2186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B949708-0151-4AC4-A6E4-E4D58D234E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153400" y="2293290"/>
            <a:ext cx="2156240" cy="69979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5B5826F-B5A2-41BD-90A1-08D799EEDBC2}"/>
              </a:ext>
            </a:extLst>
          </p:cNvPr>
          <p:cNvSpPr>
            <a:spLocks noGrp="1"/>
          </p:cNvSpPr>
          <p:nvPr/>
        </p:nvSpPr>
        <p:spPr>
          <a:xfrm>
            <a:off x="8153400" y="3333750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325" b="1">
                <a:solidFill>
                  <a:srgbClr val="38C6C0"/>
                </a:solidFill>
              </a:defRPr>
            </a:defPPr>
          </a:lstStyle>
          <a:p>
            <a:pPr>
              <a:defRPr sz="2325" b="1">
                <a:solidFill>
                  <a:srgbClr val="38C6C0"/>
                </a:solidFill>
              </a:defRPr>
            </a:pPr>
            <a:r>
              <a:rPr sz="2325" b="1">
                <a:solidFill>
                  <a:srgbClr val="38C6C0"/>
                </a:solidFill>
              </a:rPr>
              <a:t>Apoyo clínico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936F497-BAC0-46FE-8A71-67DF5FCA2810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32385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F4F7FA"/>
                </a:solidFill>
              </a:defRPr>
            </a:defPPr>
          </a:lstStyle>
          <a:p>
            <a:pPr>
              <a:defRPr sz="2100" b="0">
                <a:solidFill>
                  <a:srgbClr val="F4F7FA"/>
                </a:solidFill>
              </a:defRPr>
            </a:pPr>
            <a:r>
              <a:rPr sz="2100" b="0">
                <a:solidFill>
                  <a:srgbClr val="F4F7FA"/>
                </a:solidFill>
              </a:rPr>
              <a:t>Exploración académica de apoyo a la priorización de casos. Sin validación clínica.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AE0129A-79AD-45F7-86C6-AD352E1338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002920" y="2515665"/>
            <a:ext cx="228600" cy="21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9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98FABA1C-07B1-468C-BBA8-9299A2FEEFE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METODOLOGÍA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62AFAA9-EA45-4282-BBDB-5A3736636989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Datos, entrenamiento y evaluación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9AD6D1-D8C0-4F41-814D-D2406B138305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44A7698-50D5-4CE6-86B0-A14B29A8D0A3}"/>
              </a:ext>
            </a:extLst>
          </p:cNvPr>
          <p:cNvSpPr>
            <a:spLocks noGrp="1"/>
          </p:cNvSpPr>
          <p:nvPr/>
        </p:nvSpPr>
        <p:spPr>
          <a:xfrm>
            <a:off x="609600" y="22383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38C6C0"/>
                </a:solidFill>
              </a:defRPr>
            </a:defPPr>
          </a:lstStyle>
          <a:p>
            <a:pPr>
              <a:defRPr sz="2250" b="1">
                <a:solidFill>
                  <a:srgbClr val="38C6C0"/>
                </a:solidFill>
              </a:defRPr>
            </a:pPr>
            <a:r>
              <a:rPr sz="2250" b="1">
                <a:solidFill>
                  <a:srgbClr val="38C6C0"/>
                </a:solidFill>
              </a:rPr>
              <a:t>Datos y auditoría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6E4018-DCD5-4AF6-B105-ED82601E2034}"/>
              </a:ext>
            </a:extLst>
          </p:cNvPr>
          <p:cNvSpPr>
            <a:spLocks noGrp="1"/>
          </p:cNvSpPr>
          <p:nvPr/>
        </p:nvSpPr>
        <p:spPr>
          <a:xfrm>
            <a:off x="609600" y="3190875"/>
            <a:ext cx="3286125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CBD7E2"/>
                </a:solidFill>
              </a:defRPr>
            </a:defPPr>
          </a:lstStyle>
          <a:p>
            <a:pPr>
              <a:defRPr sz="1800" b="0">
                <a:solidFill>
                  <a:srgbClr val="CBD7E2"/>
                </a:solidFill>
              </a:defRPr>
            </a:pPr>
            <a:r>
              <a:rPr sz="1800" b="0">
                <a:solidFill>
                  <a:srgbClr val="CBD7E2"/>
                </a:solidFill>
              </a:rPr>
              <a:t>13.879 imágenes de clasificación. SHA-256: 0 coincidencias exactas. dHash: 6.344 pares candidatos; 732 grupos; 1.209 imágenes reasignadas.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2A65DD-9FDF-400A-A0BB-92A4779CB376}"/>
              </a:ext>
            </a:extLst>
          </p:cNvPr>
          <p:cNvSpPr>
            <a:spLocks noGrp="1"/>
          </p:cNvSpPr>
          <p:nvPr/>
        </p:nvSpPr>
        <p:spPr>
          <a:xfrm>
            <a:off x="4381500" y="22383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38C6C0"/>
                </a:solidFill>
              </a:defRPr>
            </a:defPPr>
          </a:lstStyle>
          <a:p>
            <a:pPr>
              <a:defRPr sz="2250" b="1">
                <a:solidFill>
                  <a:srgbClr val="38C6C0"/>
                </a:solidFill>
              </a:defRPr>
            </a:pPr>
            <a:r>
              <a:rPr sz="2250" b="1">
                <a:solidFill>
                  <a:srgbClr val="38C6C0"/>
                </a:solidFill>
              </a:rPr>
              <a:t>Clasificación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375FA7-933E-4855-B425-61A13A600949}"/>
              </a:ext>
            </a:extLst>
          </p:cNvPr>
          <p:cNvSpPr>
            <a:spLocks noGrp="1"/>
          </p:cNvSpPr>
          <p:nvPr/>
        </p:nvSpPr>
        <p:spPr>
          <a:xfrm>
            <a:off x="4381500" y="3190875"/>
            <a:ext cx="3286125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CBD7E2"/>
                </a:solidFill>
              </a:defRPr>
            </a:defPPr>
          </a:lstStyle>
          <a:p>
            <a:pPr>
              <a:defRPr sz="1800" b="0">
                <a:solidFill>
                  <a:srgbClr val="CBD7E2"/>
                </a:solidFill>
              </a:defRPr>
            </a:pPr>
            <a:r>
              <a:rPr sz="1800" b="0">
                <a:solidFill>
                  <a:srgbClr val="CBD7E2"/>
                </a:solidFill>
              </a:rPr>
              <a:t>Entrada 224 × 224 y normalización ImageNet. Aumentos solo en entrenamiento. 8 épocas con base congelada y 6 de ajuste completo. Modelo por AUC de validación.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F7CFE70-B08D-4737-88B3-8556AE8ABBB2}"/>
              </a:ext>
            </a:extLst>
          </p:cNvPr>
          <p:cNvSpPr>
            <a:spLocks noGrp="1"/>
          </p:cNvSpPr>
          <p:nvPr/>
        </p:nvSpPr>
        <p:spPr>
          <a:xfrm>
            <a:off x="8153400" y="2238375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38C6C0"/>
                </a:solidFill>
              </a:defRPr>
            </a:defPPr>
          </a:lstStyle>
          <a:p>
            <a:pPr>
              <a:defRPr sz="2250" b="1">
                <a:solidFill>
                  <a:srgbClr val="38C6C0"/>
                </a:solidFill>
              </a:defRPr>
            </a:pPr>
            <a:r>
              <a:rPr sz="2250" b="1">
                <a:solidFill>
                  <a:srgbClr val="38C6C0"/>
                </a:solidFill>
              </a:rPr>
              <a:t>Segmentación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7965CE1-2D86-467B-9378-F400D5BDAFE4}"/>
              </a:ext>
            </a:extLst>
          </p:cNvPr>
          <p:cNvSpPr>
            <a:spLocks noGrp="1"/>
          </p:cNvSpPr>
          <p:nvPr/>
        </p:nvSpPr>
        <p:spPr>
          <a:xfrm>
            <a:off x="8153400" y="3190875"/>
            <a:ext cx="3286125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CBD7E2"/>
                </a:solidFill>
              </a:defRPr>
            </a:defPPr>
          </a:lstStyle>
          <a:p>
            <a:pPr>
              <a:defRPr sz="1800" b="0">
                <a:solidFill>
                  <a:srgbClr val="CBD7E2"/>
                </a:solidFill>
              </a:defRPr>
            </a:pPr>
            <a:r>
              <a:rPr sz="1800" b="0">
                <a:solidFill>
                  <a:srgbClr val="CBD7E2"/>
                </a:solidFill>
              </a:rPr>
              <a:t>ISIC 2018: 2.594 pares imagen–máscara. U-Net con encoder ResNet-18. Entrada 256 × 256, partición 80/10/10 y 12 épocas. Selección por Dice de validación.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7133398-C00E-4B75-90FE-8DFFFF78512E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F4F7FA"/>
                </a:solidFill>
              </a:defRPr>
            </a:defPPr>
          </a:lstStyle>
          <a:p>
            <a:pPr>
              <a:defRPr sz="1725" b="0">
                <a:solidFill>
                  <a:srgbClr val="F4F7FA"/>
                </a:solidFill>
              </a:defRPr>
            </a:pPr>
            <a:r>
              <a:rPr sz="1725" b="0">
                <a:solidFill>
                  <a:srgbClr val="F4F7FA"/>
                </a:solidFill>
              </a:rPr>
              <a:t>Clasificación: umbral fijado en validación para sensibilidad ≥ 0,90. Las tareas se evalúan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634316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BF82E3D5-26ED-4C96-A304-604FCA23920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ENTRENAMIENTO DE SEGMENTACIÓN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30B6604-19C0-41FA-8FFF-1CDBA84C53DC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U-Net: evolución durante 12 épocas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D7512D-9E57-46E9-919A-0249627A4603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11DE58-073C-43CE-A11D-8285E49DE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62804" y="1952625"/>
            <a:ext cx="9266391" cy="26193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E2A6068-80D6-4F2E-9ADB-D6CABD6C698D}"/>
              </a:ext>
            </a:extLst>
          </p:cNvPr>
          <p:cNvSpPr>
            <a:spLocks noGrp="1"/>
          </p:cNvSpPr>
          <p:nvPr/>
        </p:nvSpPr>
        <p:spPr>
          <a:xfrm>
            <a:off x="609600" y="48101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38C6C0"/>
                </a:solidFill>
              </a:defRPr>
            </a:defPPr>
          </a:lstStyle>
          <a:p>
            <a:pPr>
              <a:defRPr sz="2175" b="1">
                <a:solidFill>
                  <a:srgbClr val="38C6C0"/>
                </a:solidFill>
              </a:defRPr>
            </a:pPr>
            <a:r>
              <a:rPr sz="2175" b="1">
                <a:solidFill>
                  <a:srgbClr val="38C6C0"/>
                </a:solidFill>
              </a:rPr>
              <a:t>Selección por Dice de validación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673A215-5DCC-4D05-A8A2-7AF719C34D2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51435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4F7FA"/>
                </a:solidFill>
              </a:defRPr>
            </a:defPPr>
          </a:lstStyle>
          <a:p>
            <a:pPr>
              <a:defRPr sz="1875" b="0">
                <a:solidFill>
                  <a:srgbClr val="F4F7FA"/>
                </a:solidFill>
              </a:defRPr>
            </a:pPr>
            <a:r>
              <a:rPr sz="1875" b="0">
                <a:solidFill>
                  <a:srgbClr val="F4F7FA"/>
                </a:solidFill>
              </a:rPr>
              <a:t>Mayor Dice en la época 12: 0,890. IoU de validación: 0,823. Se conserva ese checkpoint.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D04CCA5-BADF-4550-8DB8-B0C93B578BA2}"/>
              </a:ext>
            </a:extLst>
          </p:cNvPr>
          <p:cNvSpPr>
            <a:spLocks noGrp="1"/>
          </p:cNvSpPr>
          <p:nvPr/>
        </p:nvSpPr>
        <p:spPr>
          <a:xfrm>
            <a:off x="6477000" y="4810125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38C6C0"/>
                </a:solidFill>
              </a:defRPr>
            </a:defPPr>
          </a:lstStyle>
          <a:p>
            <a:pPr>
              <a:defRPr sz="2175" b="1">
                <a:solidFill>
                  <a:srgbClr val="38C6C0"/>
                </a:solidFill>
              </a:defRPr>
            </a:pPr>
            <a:r>
              <a:rPr sz="2175" b="1">
                <a:solidFill>
                  <a:srgbClr val="38C6C0"/>
                </a:solidFill>
              </a:rPr>
              <a:t>Alcance de las curvas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8C3F153-3DA5-469E-A088-9A0365A6309C}"/>
              </a:ext>
            </a:extLst>
          </p:cNvPr>
          <p:cNvSpPr>
            <a:spLocks noGrp="1"/>
          </p:cNvSpPr>
          <p:nvPr/>
        </p:nvSpPr>
        <p:spPr>
          <a:xfrm>
            <a:off x="6477000" y="53340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4F7FA"/>
                </a:solidFill>
              </a:defRPr>
            </a:defPPr>
          </a:lstStyle>
          <a:p>
            <a:pPr>
              <a:defRPr sz="1875" b="0">
                <a:solidFill>
                  <a:srgbClr val="F4F7FA"/>
                </a:solidFill>
              </a:defRPr>
            </a:pPr>
            <a:r>
              <a:rPr sz="1875" b="0">
                <a:solidFill>
                  <a:srgbClr val="F4F7FA"/>
                </a:solidFill>
              </a:rPr>
              <a:t>La validación sigue mejorando al final y la pérdida fluctúa. El presupuesto fue de 12 épocas; ampliar el entrenamiento requiere nueva evaluación.</a:t>
            </a:r>
          </a:p>
        </p:txBody>
      </p:sp>
    </p:spTree>
    <p:extLst>
      <p:ext uri="{BB962C8B-B14F-4D97-AF65-F5344CB8AC3E}">
        <p14:creationId xmlns:p14="http://schemas.microsoft.com/office/powerpoint/2010/main" val="95595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15FB8E5-7959-4C16-B148-AB04D984FF5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CLASIFICACIÓN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73D726E-1DE3-478F-9468-09FDF9D70ACE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Comparativa en validación y prueba final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6663EA6-4C16-481A-9C84-7BA0B23943EE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05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F929254-045C-4C49-8E53-21B4EECACAFC}"/>
              </a:ext>
            </a:extLst>
          </p:cNvPr>
          <p:cNvGraphicFramePr/>
          <p:nvPr/>
        </p:nvGraphicFramePr>
        <p:xfrm>
          <a:off x="609600" y="2095500"/>
          <a:ext cx="10972800" cy="223837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6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7FA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7FA"/>
                          </a:solidFill>
                        </a:rPr>
                        <a:t>AUC: cabeza</a:t>
                      </a:r>
                    </a:p>
                  </a:txBody>
                  <a:tcPr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7FA"/>
                          </a:solidFill>
                        </a:rPr>
                        <a:t>AUC: ajuste</a:t>
                      </a:r>
                    </a:p>
                  </a:txBody>
                  <a:tcPr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7FA"/>
                          </a:solidFill>
                        </a:rPr>
                        <a:t>Parámetros (M)</a:t>
                      </a:r>
                    </a:p>
                  </a:txBody>
                  <a:tcPr>
                    <a:solidFill>
                      <a:srgbClr val="1730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7FA"/>
                          </a:solidFill>
                        </a:rPr>
                        <a:t>Latencia (ms)</a:t>
                      </a:r>
                    </a:p>
                  </a:txBody>
                  <a:tcPr>
                    <a:solidFill>
                      <a:srgbClr val="1730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3447"/>
                          </a:solidFill>
                        </a:rPr>
                        <a:t>EfficientNet-B0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0,944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0,941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4,01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7,5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23447"/>
                          </a:solidFill>
                        </a:rPr>
                        <a:t>ResNet-18 (elegido)</a:t>
                      </a:r>
                    </a:p>
                  </a:txBody>
                  <a:tcPr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0,937</a:t>
                      </a:r>
                    </a:p>
                  </a:txBody>
                  <a:tcPr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0,957</a:t>
                      </a:r>
                    </a:p>
                  </a:txBody>
                  <a:tcPr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11,18</a:t>
                      </a:r>
                    </a:p>
                  </a:txBody>
                  <a:tcPr>
                    <a:solidFill>
                      <a:srgbClr val="D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23447"/>
                          </a:solidFill>
                        </a:rPr>
                        <a:t>3,7</a:t>
                      </a:r>
                    </a:p>
                  </a:txBody>
                  <a:tcPr>
                    <a:solidFill>
                      <a:srgbClr val="DD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8A0DABD0-AD96-40A7-A19C-537D4734BC53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38C6C0"/>
                </a:solidFill>
              </a:defRPr>
            </a:defPPr>
          </a:lstStyle>
          <a:p>
            <a:pPr>
              <a:defRPr sz="2250" b="1">
                <a:solidFill>
                  <a:srgbClr val="38C6C0"/>
                </a:solidFill>
              </a:defRPr>
            </a:pPr>
            <a:r>
              <a:rPr sz="2250" b="1">
                <a:solidFill>
                  <a:srgbClr val="38C6C0"/>
                </a:solidFill>
              </a:rPr>
              <a:t>ResNet-18: mayor AUC de validación (0,957)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FEF3A6-D800-4994-948D-CD650F23DE83}"/>
              </a:ext>
            </a:extLst>
          </p:cNvPr>
          <p:cNvSpPr>
            <a:spLocks noGrp="1"/>
          </p:cNvSpPr>
          <p:nvPr/>
        </p:nvSpPr>
        <p:spPr>
          <a:xfrm>
            <a:off x="609600" y="5143500"/>
            <a:ext cx="108585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F4F7FA"/>
                </a:solidFill>
              </a:defRPr>
            </a:defPPr>
          </a:lstStyle>
          <a:p>
            <a:pPr>
              <a:defRPr sz="1950" b="0">
                <a:solidFill>
                  <a:srgbClr val="F4F7FA"/>
                </a:solidFill>
              </a:defRPr>
            </a:pPr>
            <a:r>
              <a:rPr sz="1950" b="0">
                <a:solidFill>
                  <a:srgbClr val="F4F7FA"/>
                </a:solidFill>
              </a:rPr>
              <a:t>Prueba reasignada (n = 1.152), umbral 0,576: AUC 0,977; sensibilidad 92,7 %; especificidad 91,4 %; F1 0,887.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29D8F50-8828-4C4E-B827-45115FC7380E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CBD7E2"/>
                </a:solidFill>
              </a:defRPr>
            </a:defPPr>
          </a:lstStyle>
          <a:p>
            <a:pPr>
              <a:defRPr sz="1575" b="0">
                <a:solidFill>
                  <a:srgbClr val="CBD7E2"/>
                </a:solidFill>
              </a:defRPr>
            </a:pPr>
            <a:r>
              <a:rPr sz="1575" b="0">
                <a:solidFill>
                  <a:srgbClr val="CBD7E2"/>
                </a:solidFill>
              </a:rPr>
              <a:t>Matriz de confusión: 689 VN, 65 FP, 29 FN y 369 VP. Latencia con lote de una imagen en GPU de Colab.</a:t>
            </a:r>
          </a:p>
        </p:txBody>
      </p:sp>
    </p:spTree>
    <p:extLst>
      <p:ext uri="{BB962C8B-B14F-4D97-AF65-F5344CB8AC3E}">
        <p14:creationId xmlns:p14="http://schemas.microsoft.com/office/powerpoint/2010/main" val="2133669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C4A4832D-87E8-4980-AFD3-C4245C104FA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DEMOSTRACIÓN PRÁCTICA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E069783-0268-45F9-9CCF-30D93AB3962B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Ejecución del notebook en entorno interactivo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630F69-83BD-4DFF-9A17-9162AF6461C8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3D8DDE-311F-410A-894D-2E76FE79F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14531" y="1454046"/>
            <a:ext cx="10372569" cy="464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82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6A735B3B-7299-4BE0-B239-CFD5D36E3A3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38C6C0"/>
                </a:solidFill>
              </a:defRPr>
            </a:defPPr>
          </a:lstStyle>
          <a:p>
            <a:pPr>
              <a:defRPr sz="1350" b="1">
                <a:solidFill>
                  <a:srgbClr val="38C6C0"/>
                </a:solidFill>
              </a:defRPr>
            </a:pPr>
            <a:r>
              <a:rPr sz="1350" b="1">
                <a:solidFill>
                  <a:srgbClr val="38C6C0"/>
                </a:solidFill>
              </a:rPr>
              <a:t>RESULTADOS Y LIMITACIONES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B3F0C44-D705-4FA6-8748-6A5E7C1B290D}"/>
              </a:ext>
            </a:extLst>
          </p:cNvPr>
          <p:cNvSpPr>
            <a:spLocks noGrp="1"/>
          </p:cNvSpPr>
          <p:nvPr/>
        </p:nvSpPr>
        <p:spPr>
          <a:xfrm>
            <a:off x="609600" y="838200"/>
            <a:ext cx="109537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225" b="1">
                <a:solidFill>
                  <a:srgbClr val="F4F7FA"/>
                </a:solidFill>
              </a:defRPr>
            </a:defPPr>
          </a:lstStyle>
          <a:p>
            <a:pPr>
              <a:defRPr sz="3225" b="1">
                <a:solidFill>
                  <a:srgbClr val="F4F7FA"/>
                </a:solidFill>
              </a:defRPr>
            </a:pPr>
            <a:r>
              <a:rPr sz="3225" b="1">
                <a:solidFill>
                  <a:srgbClr val="F4F7FA"/>
                </a:solidFill>
              </a:rPr>
              <a:t>Segmentación y alcance del prototipo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97F329-71D6-45F4-9E32-DCB2657B19BD}"/>
              </a:ext>
            </a:extLst>
          </p:cNvPr>
          <p:cNvSpPr>
            <a:spLocks noGrp="1"/>
          </p:cNvSpPr>
          <p:nvPr/>
        </p:nvSpPr>
        <p:spPr>
          <a:xfrm>
            <a:off x="11144250" y="630555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CBD7E2"/>
                </a:solidFill>
              </a:defRPr>
            </a:defPPr>
          </a:lstStyle>
          <a:p>
            <a:pPr>
              <a:defRPr sz="1200" b="0">
                <a:solidFill>
                  <a:srgbClr val="CBD7E2"/>
                </a:solidFill>
              </a:defRPr>
            </a:pPr>
            <a:r>
              <a:rPr sz="1200" b="0">
                <a:solidFill>
                  <a:srgbClr val="CBD7E2"/>
                </a:solidFill>
              </a:rPr>
              <a:t>07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A0E708-E10A-448C-BA2E-8BF7ECBFE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90079" y="2047875"/>
            <a:ext cx="3630168" cy="252412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368C1AD6-87F0-4802-8093-A548B43E59DB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519112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38C6C0"/>
                </a:solidFill>
              </a:defRPr>
            </a:defPPr>
          </a:lstStyle>
          <a:p>
            <a:pPr>
              <a:defRPr sz="2400" b="1">
                <a:solidFill>
                  <a:srgbClr val="38C6C0"/>
                </a:solidFill>
              </a:defRPr>
            </a:pPr>
            <a:r>
              <a:rPr sz="2400" b="1">
                <a:solidFill>
                  <a:srgbClr val="38C6C0"/>
                </a:solidFill>
              </a:rPr>
              <a:t>Dice 0,883 · IoU 0,813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2AE222-7DF4-49A4-9D5F-AB91ECC6F042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5191125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F4F7FA"/>
                </a:solidFill>
              </a:defRPr>
            </a:defPPr>
          </a:lstStyle>
          <a:p>
            <a:pPr>
              <a:defRPr sz="1800" b="0">
                <a:solidFill>
                  <a:srgbClr val="F4F7FA"/>
                </a:solidFill>
              </a:defRPr>
            </a:pPr>
            <a:r>
              <a:rPr sz="1800" b="0">
                <a:solidFill>
                  <a:srgbClr val="F4F7FA"/>
                </a:solidFill>
              </a:rPr>
              <a:t>Prueba: 260 imágenes. IC 95 % Dice: 0,863–0,899. Latencia: 9,0 ms/imagen. Diez casos con Dice &lt; 0,5 (3,8 %).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BFF04E-0699-4EAD-AB29-80A95C47C62C}"/>
              </a:ext>
            </a:extLst>
          </p:cNvPr>
          <p:cNvSpPr>
            <a:spLocks noGrp="1"/>
          </p:cNvSpPr>
          <p:nvPr/>
        </p:nvSpPr>
        <p:spPr>
          <a:xfrm>
            <a:off x="6477000" y="2047875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38C6C0"/>
                </a:solidFill>
              </a:defRPr>
            </a:defPPr>
          </a:lstStyle>
          <a:p>
            <a:pPr>
              <a:defRPr sz="2250" b="1">
                <a:solidFill>
                  <a:srgbClr val="38C6C0"/>
                </a:solidFill>
              </a:defRPr>
            </a:pPr>
            <a:r>
              <a:rPr sz="2250" b="1">
                <a:solidFill>
                  <a:srgbClr val="38C6C0"/>
                </a:solidFill>
              </a:rPr>
              <a:t>Limitaciones documentadas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1D1C08A-3F4E-427A-86E3-657C553AC004}"/>
              </a:ext>
            </a:extLst>
          </p:cNvPr>
          <p:cNvSpPr>
            <a:spLocks noGrp="1"/>
          </p:cNvSpPr>
          <p:nvPr/>
        </p:nvSpPr>
        <p:spPr>
          <a:xfrm>
            <a:off x="6477000" y="27146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4F7FA"/>
                </a:solidFill>
              </a:defRPr>
            </a:defPPr>
          </a:lstStyle>
          <a:p>
            <a:pPr>
              <a:defRPr sz="1875" b="0">
                <a:solidFill>
                  <a:srgbClr val="F4F7FA"/>
                </a:solidFill>
              </a:defRPr>
            </a:pPr>
            <a:r>
              <a:rPr sz="1875" b="0">
                <a:solidFill>
                  <a:srgbClr val="F4F7FA"/>
                </a:solidFill>
              </a:rPr>
              <a:t>La revisión de similitudes es parcial. El agrupamiento puede encadenar imágenes diferentes. Sin identificadores de paciente o lesión.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A85EAB2-DBB1-4A76-B6D3-6AFBC52FB431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49530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F4F7FA"/>
                </a:solidFill>
              </a:defRPr>
            </a:defPPr>
          </a:lstStyle>
          <a:p>
            <a:pPr>
              <a:defRPr sz="1875" b="0">
                <a:solidFill>
                  <a:srgbClr val="F4F7FA"/>
                </a:solidFill>
              </a:defRPr>
            </a:pPr>
            <a:r>
              <a:rPr sz="1875" b="0">
                <a:solidFill>
                  <a:srgbClr val="F4F7FA"/>
                </a:solidFill>
              </a:rPr>
              <a:t>Parte de la prueba de clasificación se consultó durante el desarrollo. Clasificación y segmentación usan conjuntos distintos y no forman un flujo integrado evaluado.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62BAC34-29DE-4FD5-9E82-022F23DF2D9A}"/>
              </a:ext>
            </a:extLst>
          </p:cNvPr>
          <p:cNvSpPr>
            <a:spLocks noGrp="1"/>
          </p:cNvSpPr>
          <p:nvPr/>
        </p:nvSpPr>
        <p:spPr>
          <a:xfrm>
            <a:off x="6477000" y="5476875"/>
            <a:ext cx="495300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38C6C0"/>
                </a:solidFill>
              </a:defRPr>
            </a:defPPr>
          </a:lstStyle>
          <a:p>
            <a:pPr>
              <a:defRPr sz="1875" b="0">
                <a:solidFill>
                  <a:srgbClr val="38C6C0"/>
                </a:solidFill>
              </a:defRPr>
            </a:pPr>
            <a:r>
              <a:rPr sz="1875" b="0">
                <a:solidFill>
                  <a:srgbClr val="38C6C0"/>
                </a:solidFill>
              </a:rPr>
              <a:t>Uso académico, sin validación clínica. Integración y evaluación externa: trabajo futuro.</a:t>
            </a:r>
          </a:p>
        </p:txBody>
      </p:sp>
    </p:spTree>
    <p:extLst>
      <p:ext uri="{BB962C8B-B14F-4D97-AF65-F5344CB8AC3E}">
        <p14:creationId xmlns:p14="http://schemas.microsoft.com/office/powerpoint/2010/main" val="536847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2F15ED95-A4BD-42A6-8E37-A7C96F0496E1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04775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275" b="1">
                <a:solidFill>
                  <a:srgbClr val="F4F7FA"/>
                </a:solidFill>
              </a:defRPr>
            </a:defPPr>
          </a:lstStyle>
          <a:p>
            <a:pPr>
              <a:defRPr sz="4275" b="1">
                <a:solidFill>
                  <a:srgbClr val="F4F7FA"/>
                </a:solidFill>
              </a:defRPr>
            </a:pPr>
            <a:r>
              <a:rPr sz="4275" b="1">
                <a:solidFill>
                  <a:srgbClr val="F4F7FA"/>
                </a:solidFill>
              </a:rPr>
              <a:t>¿Preguntas o Comentarios?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6DA974-D8CE-4615-AB26-FC1B72452DF2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CBD7E2"/>
                </a:solidFill>
              </a:defRPr>
            </a:defPPr>
          </a:lstStyle>
          <a:p>
            <a:pPr>
              <a:defRPr sz="2250" b="0">
                <a:solidFill>
                  <a:srgbClr val="CBD7E2"/>
                </a:solidFill>
              </a:defRPr>
            </a:pPr>
            <a:r>
              <a:rPr sz="2250" b="0">
                <a:solidFill>
                  <a:srgbClr val="CBD7E2"/>
                </a:solidFill>
              </a:rPr>
              <a:t>Muchas gracias por su atención.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5CD890-A1A0-45FB-85E3-F3F442D67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64394" y="5095875"/>
            <a:ext cx="328613" cy="342900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FAA2E900-53E7-4F3B-96DF-6EADAB399B86}"/>
              </a:ext>
            </a:extLst>
          </p:cNvPr>
          <p:cNvSpPr>
            <a:spLocks noGrp="1"/>
          </p:cNvSpPr>
          <p:nvPr/>
        </p:nvSpPr>
        <p:spPr>
          <a:xfrm>
            <a:off x="1381125" y="5000625"/>
            <a:ext cx="95250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38C6C0"/>
                </a:solidFill>
              </a:defRPr>
            </a:defPPr>
          </a:lstStyle>
          <a:p>
            <a:pPr>
              <a:defRPr sz="1950" b="0">
                <a:solidFill>
                  <a:srgbClr val="38C6C0"/>
                </a:solidFill>
              </a:defRPr>
            </a:pPr>
            <a:r>
              <a:rPr sz="1950" b="0">
                <a:solidFill>
                  <a:srgbClr val="38C6C0"/>
                </a:solidFill>
              </a:rPr>
              <a:t>Repositorio disponible en GitHub: FedeTombe/Melanoma-Vision--CEIA-FIUBA-</a:t>
            </a:r>
          </a:p>
        </p:txBody>
      </p:sp>
    </p:spTree>
    <p:extLst>
      <p:ext uri="{BB962C8B-B14F-4D97-AF65-F5344CB8AC3E}">
        <p14:creationId xmlns:p14="http://schemas.microsoft.com/office/powerpoint/2010/main" val="1300532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1201</Words>
  <Application>Microsoft Office PowerPoint</Application>
  <DocSecurity>0</DocSecurity>
  <PresentationFormat>Panorámica</PresentationFormat>
  <Paragraphs>78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Aptos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 R</cp:lastModifiedBy>
  <cp:revision>3</cp:revision>
  <dcterms:created xsi:type="dcterms:W3CDTF">2026-10-11T01:14:25Z</dcterms:created>
  <dcterms:modified xsi:type="dcterms:W3CDTF">2026-10-11T03:19:15Z</dcterms:modified>
</cp:coreProperties>
</file>