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w+8uDa8Lyl0yT6bOCNFgJ1YvA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F4CE4A-A7C3-4E3C-97A1-2196563165DF}">
  <a:tblStyle styleId="{D2F4CE4A-A7C3-4E3C-97A1-2196563165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hIjzbphdo93pJH2TmxQZvd3VTq1cnoXy/view" TargetMode="External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/>
          <p:nvPr/>
        </p:nvSpPr>
        <p:spPr>
          <a:xfrm>
            <a:off x="609600" y="428625"/>
            <a:ext cx="8572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CEIA - FIUBA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Visión por Computadora 2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09600" y="1571625"/>
            <a:ext cx="104775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Melanoma Vision: clasificación y segmentación de lesiones cutáneas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09600" y="3333750"/>
            <a:ext cx="100012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Prototipo académico con modelos </a:t>
            </a:r>
            <a:r>
              <a:rPr lang="en-US" sz="2100">
                <a:solidFill>
                  <a:srgbClr val="CBD7E2"/>
                </a:solidFill>
              </a:rPr>
              <a:t>pre entrenados</a:t>
            </a:r>
            <a:r>
              <a:rPr b="0" lang="en-US" sz="21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 y auditoría de similitud entre particiones. Sin validación clínica.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09600" y="51435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09600" y="5524500"/>
            <a:ext cx="504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Clasificación y segmentación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477000" y="51435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MODELOS EVALUADOS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477000" y="5524500"/>
            <a:ext cx="5048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EfficientNet-B0 / ResNet-18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U-Net con encoder ResNet-18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CONTEXTO MÉDICO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Desafíos en la detección precoz del melanoma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768" y="2300080"/>
            <a:ext cx="2156242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609600" y="3333750"/>
            <a:ext cx="3333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Alta agresividad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9600" y="4095750"/>
            <a:ext cx="3238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Mayor tasa de mortalidad en cáncer de piel.</a:t>
            </a:r>
            <a:endParaRPr/>
          </a:p>
        </p:txBody>
      </p:sp>
      <p:pic>
        <p:nvPicPr>
          <p:cNvPr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589" y="254296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499" y="2293290"/>
            <a:ext cx="2156241" cy="69979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4381500" y="3333750"/>
            <a:ext cx="3333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Diagnóstico precoz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381500" y="4095750"/>
            <a:ext cx="3238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Factor determinante para la supervivencia del paciente.</a:t>
            </a:r>
            <a:endParaRPr/>
          </a:p>
        </p:txBody>
      </p:sp>
      <p:pic>
        <p:nvPicPr>
          <p:cNvPr id="53" name="Google Shape;5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4159" y="2500519"/>
            <a:ext cx="228600" cy="218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2293290"/>
            <a:ext cx="2156240" cy="6997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8153400" y="3333750"/>
            <a:ext cx="3333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Apoyo clínico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153400" y="4095750"/>
            <a:ext cx="3238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Exploración académica de apoyo a la priorización de casos. Sin validación clínica.</a:t>
            </a:r>
            <a:endParaRPr/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02920" y="2515665"/>
            <a:ext cx="228600" cy="21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Datos, entrenamiento y evaluación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09600" y="2238375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Datos y auditoría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09600" y="3190875"/>
            <a:ext cx="32861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13.879 imágenes de clasificación. SHA-256: 0 coincidencias exactas. dHash: 6.344 pares candidatos; 732 grupos; 1.209 imágenes </a:t>
            </a:r>
            <a:r>
              <a:rPr lang="en-US" sz="1800">
                <a:solidFill>
                  <a:srgbClr val="CBD7E2"/>
                </a:solidFill>
              </a:rPr>
              <a:t>reasignadas</a:t>
            </a:r>
            <a:r>
              <a:rPr b="0" lang="en-US" sz="18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381500" y="2238375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381500" y="3190875"/>
            <a:ext cx="32861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Entrada 224 × 224 y normalización ImageNet. Aumentos solo en entrenamiento. 8 épocas con base congelada y 6 de ajuste completo. Modelo por AUC de validación.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153400" y="2238375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Segmentación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153400" y="3190875"/>
            <a:ext cx="32861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ISIC 2018: 2.594 pares imagen–máscara. U-Net con encoder ResNet-18. Entrada 256 × 256, partición 80/10/10 y 12 épocas. Selección por Dice de validación.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09600" y="5810250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Clasificación: umbral fijado en validación para sensibilidad ≥ 0,90. Las tareas se evalúan por separado.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ENTRENAMIENTO DE SEGMENTACIÓN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U-Net: evolución durante 12 épocas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804" y="1952625"/>
            <a:ext cx="9266391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609600" y="4810125"/>
            <a:ext cx="514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Selección por Dice de validación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9600" y="5334000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Mayor Dice en la época 12: 0,890. IoU de validación: 0,823. Se conserva ese checkpoint.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477000" y="481012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Alcance de las curvas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477000" y="5334000"/>
            <a:ext cx="4953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La validación sigue mejorando al final y la pérdida fluctúa. El presupuesto fue de 12 épocas; ampliar el entrenamiento requiere nueva evaluación.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DEMOSTRACIÓN PRÁCTICA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Ejecución del notebook en entorno interactivo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pic>
        <p:nvPicPr>
          <p:cNvPr id="94" name="Google Shape;94;p6" title="video_melanom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225" y="1360250"/>
            <a:ext cx="10177872" cy="521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Comparativa en validación y prueba final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graphicFrame>
        <p:nvGraphicFramePr>
          <p:cNvPr id="103" name="Google Shape;103;p5"/>
          <p:cNvGraphicFramePr/>
          <p:nvPr/>
        </p:nvGraphicFramePr>
        <p:xfrm>
          <a:off x="609600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{D2F4CE4A-A7C3-4E3C-97A1-2196563165DF}</a:tableStyleId>
              </a:tblPr>
              <a:tblGrid>
                <a:gridCol w="3048000"/>
                <a:gridCol w="1809750"/>
                <a:gridCol w="1809750"/>
                <a:gridCol w="2190750"/>
                <a:gridCol w="2114550"/>
              </a:tblGrid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7FA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4F7FA"/>
                          </a:solidFill>
                        </a:rPr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7FA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4F7FA"/>
                          </a:solidFill>
                        </a:rPr>
                        <a:t>AUC: cabeza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7FA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4F7FA"/>
                          </a:solidFill>
                        </a:rPr>
                        <a:t>AUC: ajuste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7FA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4F7FA"/>
                          </a:solidFill>
                        </a:rPr>
                        <a:t>Parámetros (M)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7FA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F4F7FA"/>
                          </a:solidFill>
                        </a:rPr>
                        <a:t>Latencia (ms)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041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223447"/>
                          </a:solidFill>
                        </a:rPr>
                        <a:t>EfficientNet-B0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0,944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0,941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4,01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7,5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8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223447"/>
                          </a:solidFill>
                        </a:rPr>
                        <a:t>ResNet-18 (elegido)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0,937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0,957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11,18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447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>
                          <a:solidFill>
                            <a:srgbClr val="223447"/>
                          </a:solidFill>
                        </a:rPr>
                        <a:t>3,7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DF5F3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5"/>
          <p:cNvSpPr/>
          <p:nvPr/>
        </p:nvSpPr>
        <p:spPr>
          <a:xfrm>
            <a:off x="609600" y="4552950"/>
            <a:ext cx="10858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ResNet-18: mayor AUC de validación (0,957)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09600" y="5143500"/>
            <a:ext cx="1085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Prueba reasignada (n = 1.152), umbral 0,576: AUC 0,977; sensibilidad 92,7 %; especificidad 91,4 %; F1 0,887.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09600" y="6000750"/>
            <a:ext cx="10858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Matriz de confusión: 689 VN, 65 FP, 29 FN y 369 VP. Latencia con lote de una imagen en GPU de Colab.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RESULTADOS Y LIMITACIONES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Segmentación y alcance del prototipo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079" y="2047875"/>
            <a:ext cx="3630168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609600" y="4762500"/>
            <a:ext cx="5191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Dice 0,883 · IoU 0,813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09600" y="5381625"/>
            <a:ext cx="51911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Prueba: 260 imágenes. IC 95 % Dice: 0,863–0,899. Latencia: 9,0 ms/imagen. Diez casos con Dice &lt; 0,5 (3,8 %).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477000" y="2047875"/>
            <a:ext cx="4953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Limitaciones documentadas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77000" y="2714625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La revisión de similitudes es parcial. El agrupamiento puede encadenar imágenes diferentes. Sin identificadores de paciente o lesión.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477000" y="390525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Parte de la prueba de clasificación se consultó durante el desarrollo. Clasificación y segmentación usan conjuntos distintos y no forman un flujo integrado evaluado.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477000" y="54768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Uso académico, sin validación clínica. Integración y evaluación externa: trabajo futuro.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344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857250" y="2095500"/>
            <a:ext cx="10477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75">
                <a:solidFill>
                  <a:srgbClr val="F4F7FA"/>
                </a:solidFill>
                <a:latin typeface="Arial"/>
                <a:ea typeface="Arial"/>
                <a:cs typeface="Arial"/>
                <a:sym typeface="Arial"/>
              </a:rPr>
              <a:t>¿Preguntas o Comentarios?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57250" y="34766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CBD7E2"/>
                </a:solidFill>
                <a:latin typeface="Arial"/>
                <a:ea typeface="Arial"/>
                <a:cs typeface="Arial"/>
                <a:sym typeface="Arial"/>
              </a:rPr>
              <a:t>Muchas gracias por su atención.</a:t>
            </a:r>
            <a:endParaRPr/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394" y="5095875"/>
            <a:ext cx="32861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1381125" y="5000625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38C6C0"/>
                </a:solidFill>
                <a:latin typeface="Arial"/>
                <a:ea typeface="Arial"/>
                <a:cs typeface="Arial"/>
                <a:sym typeface="Arial"/>
              </a:rPr>
              <a:t>Repositorio disponible en GitHub: FedeTombe/Melanoma-Vision--CEIA-FIUBA-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2026-10-11T01:14:25Z</dcterms:created>
  <dc:creator>Walnut Exporter</dc:creator>
</cp:coreProperties>
</file>